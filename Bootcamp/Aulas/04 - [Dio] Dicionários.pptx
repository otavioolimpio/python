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Fira Code" panose="020B0809050000020004" pitchFamily="49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7" roundtripDataSignature="AMtx7mjYpCQ8suS4KKHvH0VhS1gpB2xW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22E731-7A8A-4888-BF3A-72475743BA48}">
  <a:tblStyle styleId="{6322E731-7A8A-4888-BF3A-72475743BA4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3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6.fntdata"/><Relationship Id="rId47" Type="http://customschemas.google.com/relationships/presentationmetadata" Target="metadata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7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6.xml"/><Relationship Id="rId41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5" name="Google Shape;5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16295da5bc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g116295da5bc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4643db34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g14643db34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4643db3440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14643db3440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4643db344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g14643db344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4643db3440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14643db3440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14643db3440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14643db3440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4643db3440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g14643db3440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4643db344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4643db344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4643db344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14643db3440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4643db3440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14643db3440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4643db3440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g14643db3440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4643db3440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14643db3440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4643db3440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14643db3440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4643db3440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4" name="Google Shape;174;g14643db3440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4643db3440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g14643db3440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4643db3440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14643db3440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4643db3440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" name="Google Shape;198;g14643db3440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4643db3440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6" name="Google Shape;206;g14643db3440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14643db3440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g14643db3440_0_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4643db3440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g14643db3440_0_2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4643db3440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14643db3440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4643db3440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14643db3440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4643db3440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g14643db3440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14643db3440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g14643db3440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4643db3440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14643db3440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465265403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0" name="Google Shape;270;g1465265403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14643db3440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14643db3440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22e3ca075f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122e3ca075f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5" name="Google Shape;29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109ffa863cd_0_2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109ffa863cd_0_26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109ffa863cd_0_28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09ffa863cd_0_24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" name="Google Shape;19;g109ffa863cd_0_24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0" name="Google Shape;20;g109ffa863cd_0_2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109ffa863cd_0_24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g109ffa863cd_0_2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109ffa863cd_0_2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109ffa863cd_0_2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g109ffa863cd_0_2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09ffa863cd_0_2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109ffa863cd_0_2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109ffa863cd_0_2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109ffa863cd_0_25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9ffa863cd_0_2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5" name="Google Shape;35;g109ffa863cd_0_2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109ffa863cd_0_26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109ffa863cd_0_26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9" name="Google Shape;39;g109ffa863cd_0_26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09ffa863cd_0_2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09ffa863cd_0_27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3" name="Google Shape;43;g109ffa863cd_0_27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g109ffa863cd_0_27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g109ffa863cd_0_27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09ffa863cd_0_27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g109ffa863cd_0_27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109ffa863cd_0_27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g109ffa863cd_0_27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g109ffa863cd_0_27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109ffa863cd_0_2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109ffa863cd_0_24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8" name="Google Shape;8;g109ffa863cd_0_24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27425" y="119987"/>
            <a:ext cx="851525" cy="3314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g109ffa863cd_0_2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‹nº›</a:t>
            </a:fld>
            <a:r>
              <a:rPr lang="en-US"/>
              <a:t>]</a:t>
            </a: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discord.com/invite/gFKWUdTkaj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Guilherme Arthur de Carvalho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Analista de sistemas</a:t>
            </a:r>
            <a:endParaRPr sz="16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@decarvalhogui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565525" y="636550"/>
            <a:ext cx="79914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Dicionários</a:t>
            </a:r>
            <a:endParaRPr sz="2400" b="0" i="1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" name="Google Shape;5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/>
        </p:nvSpPr>
        <p:spPr>
          <a:xfrm>
            <a:off x="565525" y="1857725"/>
            <a:ext cx="8016900" cy="204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76200" lvl="1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Entender o funcionamento da estrutura de dados dicionário.</a:t>
            </a:r>
            <a:endParaRPr sz="240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Objetivo Geral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6" name="Google Shape;6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16295da5bc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A24"/>
              </a:buClr>
              <a:buSzPts val="2400"/>
              <a:buFont typeface="Calibri"/>
              <a:buChar char="●"/>
            </a:pPr>
            <a:r>
              <a:rPr lang="en-US" sz="24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VSCode</a:t>
            </a: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116295da5bc_0_62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Pré-requisitos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3" name="Google Shape;73;g116295da5bc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4643db3440_0_0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9" name="Google Shape;79;g14643db3440_0_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/>
          </a:p>
        </p:txBody>
      </p:sp>
      <p:sp>
        <p:nvSpPr>
          <p:cNvPr id="80" name="Google Shape;80;g14643db3440_0_0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14643db3440_0_0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g14643db3440_0_0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14643db3440_0_0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dict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4643db3440_0_9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g14643db3440_0_9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1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14643db3440_0_9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Criação e acesso aos dados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91" name="Google Shape;91;g14643db3440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14643db3440_0_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14643db3440_0_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Um dicionário é um conjunto não-ordenado de pares chave:valor, onde as chaves são únicas em uma dada instância do dicionário. Dicionários são delimitados por chaves: {}, e contém uma lista de pares chave:valor separada por vírgulas.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14643db3440_0_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Criando dicionários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9" name="Google Shape;99;g14643db3440_0_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14643db3440_0_2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14643db3440_0_2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6" name="Google Shape;106;g14643db3440_0_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07" name="Google Shape;107;g14643db3440_0_2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 = dict(nome=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idade=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pessoa[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"Guilherme", "idade": 28, "telefone": "3333-1234"}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4643db3440_0_3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Os dados são acessados e modificados através da chave.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14643db3440_0_3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Acesso aos dados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4" name="Google Shape;114;g14643db3440_0_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4643db3440_0_3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14643db3440_0_3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g14643db3440_0_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22" name="Google Shape;122;g14643db3440_0_36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"3333-1234"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"Guilherme"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"3333-1234"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"Maria"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"9988-1781"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dados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"Maria", "idade": 18, "telefone": "9988-1781"}</a:t>
                      </a:r>
                      <a:endParaRPr sz="1400" u="none" strike="noStrike" cap="none">
                        <a:solidFill>
                          <a:srgbClr val="AE81FF"/>
                        </a:solidFill>
                        <a:highlight>
                          <a:srgbClr val="23241F"/>
                        </a:highlight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4643db3440_0_56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Dicionários podem armazenar qualquer tipo de objeto Python como valor, desde que a chave para esse valor seja um objeto imutável como (strings e números).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14643db3440_0_56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Dicionários aninhados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9" name="Google Shape;129;g14643db3440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4643db3440_0_6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g14643db3440_0_6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6" name="Google Shape;136;g14643db3440_0_6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37" name="Google Shape;137;g14643db3440_0_6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"3443-2121"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14643db3440_0_8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 forma mais comum para percorrer os dados de um dicionário é utilizando o comando </a:t>
            </a: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r>
              <a:rPr lang="en-US" sz="240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40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14643db3440_0_8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Iterar dicionários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14643db3440_0_8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12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4643db3440_0_8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14643db3440_0_8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Exemplo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1" name="Google Shape;151;g14643db3440_0_8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52" name="Google Shape;152;g14643db3440_0_8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print(chave, contatos[chave])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for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chave, valor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contatos.items():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print(chave, valor)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guilherme@gmail.com {'nome': 'Guilherme', 'telefone': '3333-2221'}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giovanna@gmail.com {'nome': 'Giovanna', 'telefone': '3443-2121'}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chappie@gmail.com {'nome': 'Chappie', 'telefone': '3344-9871'}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melaine@gmail.com {'nome': 'Melaine', 'telefone': '3333-7766'}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14643db3440_0_108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8" name="Google Shape;158;g14643db3440_0_10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14</a:t>
            </a:fld>
            <a:r>
              <a:rPr lang="en-US"/>
              <a:t>]</a:t>
            </a:r>
            <a:endParaRPr/>
          </a:p>
        </p:txBody>
      </p:sp>
      <p:sp>
        <p:nvSpPr>
          <p:cNvPr id="159" name="Google Shape;159;g14643db3440_0_108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14643db3440_0_108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14643db3440_0_108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b="1" i="0" u="none" strike="no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14643db3440_0_108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dict</a:t>
            </a:r>
            <a:endParaRPr sz="2400" b="1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4643db3440_0_117"/>
          <p:cNvSpPr txBox="1"/>
          <p:nvPr/>
        </p:nvSpPr>
        <p:spPr>
          <a:xfrm>
            <a:off x="565525" y="3829263"/>
            <a:ext cx="7410300" cy="3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1400" b="1" i="0" u="none" strike="noStrike" cap="non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14643db3440_0_117"/>
          <p:cNvSpPr txBox="1"/>
          <p:nvPr/>
        </p:nvSpPr>
        <p:spPr>
          <a:xfrm>
            <a:off x="565523" y="870463"/>
            <a:ext cx="74103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4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Etapa </a:t>
            </a:r>
            <a:r>
              <a:rPr lang="en-US" sz="24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endParaRPr sz="24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69" name="Google Shape;169;g14643db3440_0_117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Métodos da classe dict</a:t>
            </a:r>
            <a:endParaRPr sz="4000" b="1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70" name="Google Shape;170;g14643db3440_0_1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14643db3440_0_1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15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4643db3440_0_12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g14643db3440_0_12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{}.clear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78" name="Google Shape;178;g14643db3440_0_1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79" name="Google Shape;179;g14643db3440_0_12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contatos.clear()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4643db3440_0_13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14643db3440_0_13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{}.copy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6" name="Google Shape;186;g14643db3440_0_1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87" name="Google Shape;187;g14643db3440_0_13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 = contatos.copy()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"Guilherme", "telefone": "3333-2221"}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copia[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"Gui"}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4643db3440_0_203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14643db3440_0_203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{}.fromkeys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4" name="Google Shape;194;g14643db3440_0_20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195" name="Google Shape;195;g14643db3440_0_203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dict.fromkeys([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None, "telefone": None}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dict.fromkeys([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"vazio"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{"nome": "vazio", "telefone": "vazio"}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4643db3440_0_2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14643db3440_0_2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{}.get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g14643db3440_0_2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19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03" name="Google Shape;203;g14643db3440_0_210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KeyError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None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"chave"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contatos.get(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{"guilherme@gmail.com": {"nome": "Guilherme", "telefone": "3333-2221"}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4643db3440_0_217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14643db3440_0_217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{}.items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0" name="Google Shape;210;g14643db3440_0_2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20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1" name="Google Shape;211;g14643db3440_0_217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contatos.items()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dict_items([('guilherme@gmail.com', {'nome': 'Guilherme', 'telefone': '3333-2221'})])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4643db3440_0_224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14643db3440_0_224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{}.keys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8" name="Google Shape;218;g14643db3440_0_2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21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19" name="Google Shape;219;g14643db3440_0_224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contatos.keys()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dict_keys(['guilherme@gmail.com'])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4643db3440_0_231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14643db3440_0_231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6" name="Google Shape;226;g14643db3440_0_2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22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27" name="Google Shape;227;g14643db3440_0_231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{})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4643db3440_0_238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14643db3440_0_238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{}.popitem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4" name="Google Shape;234;g14643db3440_0_23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23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35" name="Google Shape;235;g14643db3440_0_238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contatos.popitem()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('guilherme@gmail.com', {'nome': 'Guilherme', 'telefone': '3333-2221'})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contatos.popitem()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KeyError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4643db3440_0_245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14643db3440_0_245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{}.setdefault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2" name="Google Shape;242;g14643db3440_0_2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24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43" name="Google Shape;243;g14643db3440_0_245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=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'nome'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'Guilherme'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'telefone'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'3333-2221'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contato.setdefault(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"Guilherme"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'3333-2221'}</a:t>
                      </a:r>
                      <a:endParaRPr>
                        <a:solidFill>
                          <a:srgbClr val="75715E"/>
                        </a:solidFill>
                        <a:highlight>
                          <a:srgbClr val="23241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contato.setdefault(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AE81FF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28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{'nome': 'Guilherme', 'telefone': '3333-2221', 'idade': 28}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14643db3440_0_252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14643db3440_0_252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{}.update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0" name="Google Shape;250;g14643db3440_0_25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25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1" name="Google Shape;251;g14643db3440_0_252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contatos.update({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'Gui'}}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contatos.update({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"3322-8181"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}})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'Gui'}, 'giovanna@gmail.com': {'nome': 'Giovanna', 'telefone': '3322-8181'}}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14643db3440_0_25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14643db3440_0_25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{}.values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8" name="Google Shape;258;g14643db3440_0_25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26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59" name="Google Shape;259;g14643db3440_0_25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contatos.values()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dict_values([{'nome': 'Guilherme', 'telefone': '3333-2221'}, {'nome': 'Giovanna', 'telefone': '3443-2121'}, {'nome': 'Chappie', 'telefone': '3344-9871'}, {'nome': 'Melaine', 'telefone': '3333-7766'}])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4643db3440_0_139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14643db3440_0_139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6" name="Google Shape;266;g14643db3440_0_1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27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67" name="Google Shape;267;g14643db3440_0_139"/>
          <p:cNvGraphicFramePr/>
          <p:nvPr/>
        </p:nvGraphicFramePr>
        <p:xfrm>
          <a:off x="566928" y="1481328"/>
          <a:ext cx="8019300" cy="3081525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"megui@gmail.com"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"idade"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False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True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14652654031_0_10"/>
          <p:cNvSpPr txBox="1"/>
          <p:nvPr/>
        </p:nvSpPr>
        <p:spPr>
          <a:xfrm>
            <a:off x="565525" y="1481050"/>
            <a:ext cx="8016900" cy="3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14652654031_0_10"/>
          <p:cNvSpPr txBox="1"/>
          <p:nvPr/>
        </p:nvSpPr>
        <p:spPr>
          <a:xfrm>
            <a:off x="563550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del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4" name="Google Shape;274;g14652654031_0_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28</a:t>
            </a:fld>
            <a:r>
              <a:rPr lang="en-US"/>
              <a:t>]</a:t>
            </a:r>
            <a:endParaRPr/>
          </a:p>
        </p:txBody>
      </p:sp>
      <p:graphicFrame>
        <p:nvGraphicFramePr>
          <p:cNvPr id="275" name="Google Shape;275;g14652654031_0_10"/>
          <p:cNvGraphicFramePr/>
          <p:nvPr/>
        </p:nvGraphicFramePr>
        <p:xfrm>
          <a:off x="566928" y="1481328"/>
          <a:ext cx="8019300" cy="3306191"/>
        </p:xfrm>
        <a:graphic>
          <a:graphicData uri="http://schemas.openxmlformats.org/drawingml/2006/table">
            <a:tbl>
              <a:tblPr>
                <a:noFill/>
                <a:tableStyleId>{6322E731-7A8A-4888-BF3A-72475743BA48}</a:tableStyleId>
              </a:tblPr>
              <a:tblGrid>
                <a:gridCol w="8019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815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= {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"3333-2221"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"Giovanna"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"3443-2121"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"3344-9871"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{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"nome"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"Melaine"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"3333-7766"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},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"guilherme@gmail.com"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"telefone"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9267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del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contatos[</a:t>
                      </a:r>
                      <a:r>
                        <a:rPr lang="en-US">
                          <a:solidFill>
                            <a:srgbClr val="E6DB74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"chappie@gmail.com"</a:t>
                      </a: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 </a:t>
                      </a: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b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r>
                        <a:rPr lang="en-US">
                          <a:solidFill>
                            <a:srgbClr val="F8F8F2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contatos </a:t>
                      </a:r>
                      <a:r>
                        <a:rPr lang="en-US">
                          <a:solidFill>
                            <a:srgbClr val="75715E"/>
                          </a:solidFill>
                          <a:highlight>
                            <a:srgbClr val="23241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 {'guilherme@gmail.com': {'nome': 'Guilherme'}, 'giovanna@gmail.com': {'nome': 'Giovanna', 'telefone': '3443-2121'}, 'melaine@gmail.com': {'nome': 'Melaine', 'telefone': '3333-7766'}}</a:t>
                      </a:r>
                      <a:endParaRPr>
                        <a:latin typeface="Fira Code"/>
                        <a:ea typeface="Fira Code"/>
                        <a:cs typeface="Fira Code"/>
                        <a:sym typeface="Fira Code"/>
                      </a:endParaRPr>
                    </a:p>
                  </a:txBody>
                  <a:tcPr marL="63500" marR="63500" marT="63500" marB="63500">
                    <a:lnL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324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4643db3440_0_146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Percurso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1" name="Google Shape;281;g14643db3440_0_1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29</a:t>
            </a:fld>
            <a:r>
              <a:rPr lang="en-US"/>
              <a:t>]</a:t>
            </a:r>
            <a:endParaRPr/>
          </a:p>
        </p:txBody>
      </p:sp>
      <p:sp>
        <p:nvSpPr>
          <p:cNvPr id="282" name="Google Shape;282;g14643db3440_0_146"/>
          <p:cNvSpPr txBox="1"/>
          <p:nvPr/>
        </p:nvSpPr>
        <p:spPr>
          <a:xfrm>
            <a:off x="678554" y="1851730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1</a:t>
            </a:r>
            <a:endParaRPr sz="2800" i="0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14643db3440_0_146"/>
          <p:cNvSpPr/>
          <p:nvPr/>
        </p:nvSpPr>
        <p:spPr>
          <a:xfrm>
            <a:off x="2262751" y="1908875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Criação e acesso aos dados</a:t>
            </a:r>
            <a:endParaRPr sz="2400" i="0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14643db3440_0_146"/>
          <p:cNvSpPr txBox="1"/>
          <p:nvPr/>
        </p:nvSpPr>
        <p:spPr>
          <a:xfrm>
            <a:off x="692754" y="2571755"/>
            <a:ext cx="1380000" cy="576000"/>
          </a:xfrm>
          <a:prstGeom prst="rect">
            <a:avLst/>
          </a:prstGeom>
          <a:solidFill>
            <a:srgbClr val="EA4E6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i="0" u="none" strike="sng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Etapa </a:t>
            </a:r>
            <a:r>
              <a:rPr lang="en-US" sz="2800" strike="sng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800" i="0" u="none" strike="sngStrike" cap="none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g14643db3440_0_146"/>
          <p:cNvSpPr/>
          <p:nvPr/>
        </p:nvSpPr>
        <p:spPr>
          <a:xfrm>
            <a:off x="2276951" y="2628900"/>
            <a:ext cx="6174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strike="sngStrik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Métodos da classe tuple</a:t>
            </a:r>
            <a:endParaRPr sz="2400" i="0" u="none" strike="sngStrike" cap="none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22e3ca075f_0_56"/>
          <p:cNvSpPr txBox="1"/>
          <p:nvPr/>
        </p:nvSpPr>
        <p:spPr>
          <a:xfrm>
            <a:off x="565525" y="1293025"/>
            <a:ext cx="8016900" cy="34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 b="1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https://github.com/digitalinnovationone/trilha-python-dio</a:t>
            </a:r>
            <a:endParaRPr sz="24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122e3ca075f_0_56"/>
          <p:cNvSpPr txBox="1"/>
          <p:nvPr/>
        </p:nvSpPr>
        <p:spPr>
          <a:xfrm>
            <a:off x="565525" y="448525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40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Links Úteis</a:t>
            </a:r>
            <a:endParaRPr sz="40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92" name="Google Shape;292;g122e3ca075f_0_5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30</a:t>
            </a:fld>
            <a:r>
              <a:rPr lang="en-US"/>
              <a:t>]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 txBox="1"/>
          <p:nvPr/>
        </p:nvSpPr>
        <p:spPr>
          <a:xfrm>
            <a:off x="1162075" y="2962350"/>
            <a:ext cx="44427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6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Fórum/Artigos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6200" marR="0" lvl="1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0" i="0" u="none" strike="noStrike" cap="none">
                <a:solidFill>
                  <a:srgbClr val="EA4E6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Comunidade </a:t>
            </a:r>
            <a:r>
              <a:rPr lang="en-US" sz="2400" b="0" i="0" u="sng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Online (Discord)</a:t>
            </a: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1162075" y="1317000"/>
            <a:ext cx="6575100" cy="91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5500" b="1" i="0" u="none" strike="noStrike" cap="none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Dúvidas?</a:t>
            </a:r>
            <a:endParaRPr sz="5500" b="0" i="0" u="none" strike="noStrike" cap="none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9" name="Google Shape;29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2552" y="2029651"/>
            <a:ext cx="1484863" cy="18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426" y="120127"/>
            <a:ext cx="851525" cy="331432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>
                <a:solidFill>
                  <a:srgbClr val="EA4E60"/>
                </a:solidFill>
              </a:rPr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31</a:t>
            </a:fld>
            <a:r>
              <a:rPr lang="en-US">
                <a:solidFill>
                  <a:srgbClr val="EA4E60"/>
                </a:solidFill>
              </a:rPr>
              <a:t>]</a:t>
            </a:r>
            <a:endParaRPr>
              <a:solidFill>
                <a:srgbClr val="EA4E6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E48B58A68BE64E9120D347E3E06B3A" ma:contentTypeVersion="15" ma:contentTypeDescription="Crie um novo documento." ma:contentTypeScope="" ma:versionID="b5045d34f54d00713f1d3c8a948584d5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393f5ed8fbc70cc4225b4f59a31ebb55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C35B9C-417F-47F2-B575-5F1261743424}">
  <ds:schemaRefs>
    <ds:schemaRef ds:uri="http://schemas.microsoft.com/office/2006/metadata/properties"/>
    <ds:schemaRef ds:uri="http://schemas.microsoft.com/office/infopath/2007/PartnerControls"/>
    <ds:schemaRef ds:uri="851b35d3-0456-4d6a-bc2f-da927e91d158"/>
    <ds:schemaRef ds:uri="19483571-f922-4e8e-9c1c-26f0a2252132"/>
  </ds:schemaRefs>
</ds:datastoreItem>
</file>

<file path=customXml/itemProps2.xml><?xml version="1.0" encoding="utf-8"?>
<ds:datastoreItem xmlns:ds="http://schemas.openxmlformats.org/officeDocument/2006/customXml" ds:itemID="{329D6D15-FE52-414E-8C12-3C929BD16CA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1b35d3-0456-4d6a-bc2f-da927e91d158"/>
    <ds:schemaRef ds:uri="19483571-f922-4e8e-9c1c-26f0a22521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E7D82F-426B-4011-B443-83B2EE51F8B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31</Slides>
  <Notes>31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2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Larissa Mestieri</dc:creator>
  <cp:revision>1</cp:revision>
  <dcterms:modified xsi:type="dcterms:W3CDTF">2025-12-27T20:33:27Z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</Properties>
</file>